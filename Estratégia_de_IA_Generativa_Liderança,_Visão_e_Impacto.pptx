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57250" y="1405896"/>
            <a:ext cx="5715000" cy="2331681"/>
          </a:xfrm>
          <a:prstGeom prst="rect">
            <a:avLst/>
          </a:prstGeom>
          <a:solidFill>
            <a:srgbClr val="FFFFFF">
              <a:alpha val="8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857250" y="1405896"/>
            <a:ext cx="57150" cy="2331681"/>
          </a:xfrm>
          <a:prstGeom prst="rect">
            <a:avLst/>
          </a:prstGeom>
          <a:solidFill>
            <a:srgbClr val="E0006C"/>
          </a:solidFill>
          <a:ln/>
        </p:spPr>
      </p:sp>
      <p:sp>
        <p:nvSpPr>
          <p:cNvPr id="5" name="Text 2"/>
          <p:cNvSpPr/>
          <p:nvPr/>
        </p:nvSpPr>
        <p:spPr>
          <a:xfrm>
            <a:off x="1428750" y="1834521"/>
            <a:ext cx="4572000" cy="10058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8000"/>
              </a:lnSpc>
              <a:buNone/>
            </a:pPr>
            <a:r>
              <a:rPr lang="en-US" sz="35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Estratégia de IA Generativa</a:t>
            </a:r>
            <a:endParaRPr lang="en-US" sz="3500" dirty="0"/>
          </a:p>
        </p:txBody>
      </p:sp>
      <p:sp>
        <p:nvSpPr>
          <p:cNvPr id="6" name="Text 3"/>
          <p:cNvSpPr/>
          <p:nvPr/>
        </p:nvSpPr>
        <p:spPr>
          <a:xfrm>
            <a:off x="1428750" y="3011788"/>
            <a:ext cx="4572000" cy="29716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Liderança, Visão e Impacto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43000" y="4386263"/>
            <a:ext cx="101977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spc="-1" kern="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Nossa Jornada em 45 Minutos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445884"/>
            <a:ext cx="24765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0000A0">
                    <a:alpha val="1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4150" dirty="0"/>
          </a:p>
        </p:txBody>
      </p:sp>
      <p:sp>
        <p:nvSpPr>
          <p:cNvPr id="5" name="Text 2"/>
          <p:cNvSpPr/>
          <p:nvPr/>
        </p:nvSpPr>
        <p:spPr>
          <a:xfrm>
            <a:off x="571500" y="2160259"/>
            <a:ext cx="24765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 MINUTOS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571500" y="2421006"/>
            <a:ext cx="2476509" cy="4457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Tendência de Mercado e Riscos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71500" y="2981065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cenário atual da IA generativa e o custo da inação.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3333759" y="1445884"/>
            <a:ext cx="24765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0000A0">
                    <a:alpha val="1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4150" dirty="0"/>
          </a:p>
        </p:txBody>
      </p:sp>
      <p:sp>
        <p:nvSpPr>
          <p:cNvPr id="9" name="Text 6"/>
          <p:cNvSpPr/>
          <p:nvPr/>
        </p:nvSpPr>
        <p:spPr>
          <a:xfrm>
            <a:off x="3333759" y="2160259"/>
            <a:ext cx="24765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12 MINUTOS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3333759" y="2421006"/>
            <a:ext cx="2476509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Visão Experian com IA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3333759" y="2758185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Onde queremos chegar e nossos pilares estratégicos.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6096019" y="1445884"/>
            <a:ext cx="2476509" cy="5715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4150" b="1" dirty="0">
                <a:solidFill>
                  <a:srgbClr val="0000A0">
                    <a:alpha val="1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4150" dirty="0"/>
          </a:p>
        </p:txBody>
      </p:sp>
      <p:sp>
        <p:nvSpPr>
          <p:cNvPr id="13" name="Text 10"/>
          <p:cNvSpPr/>
          <p:nvPr/>
        </p:nvSpPr>
        <p:spPr>
          <a:xfrm>
            <a:off x="6096019" y="2160259"/>
            <a:ext cx="2476509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21 MINUTOS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096019" y="2421006"/>
            <a:ext cx="2476509" cy="22287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Liderança Prática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096019" y="2758185"/>
            <a:ext cx="2476509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Como liderar melhor com IA e discussão de próximos passos.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Adoção de IA é Realidade, Não Opção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784682"/>
            <a:ext cx="266699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2023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571500" y="2038285"/>
            <a:ext cx="2666991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33%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71500" y="2866960"/>
            <a:ext cx="2000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empresas usavam IA generativa em suas operações.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238491" y="1784682"/>
            <a:ext cx="266699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2025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238491" y="2038285"/>
            <a:ext cx="2666991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79%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3238491" y="2866960"/>
            <a:ext cx="2000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das empresas já adotaram IA generativa como padrão corporativo.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905481" y="1784682"/>
            <a:ext cx="2666991" cy="1821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000" b="1" spc="2" kern="0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2032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905481" y="2038285"/>
            <a:ext cx="2666991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5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$1.3T</a:t>
            </a:r>
            <a:endParaRPr lang="en-US" sz="5200" dirty="0"/>
          </a:p>
        </p:txBody>
      </p:sp>
      <p:sp>
        <p:nvSpPr>
          <p:cNvPr id="12" name="Text 9"/>
          <p:cNvSpPr/>
          <p:nvPr/>
        </p:nvSpPr>
        <p:spPr>
          <a:xfrm>
            <a:off x="5905481" y="2866960"/>
            <a:ext cx="2000250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é a projeção de valor do mercado global de IA generativa.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4038535"/>
            <a:ext cx="5715000" cy="76616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Não é mais uma questão de "se" devemos implementar a Inteligência Artificial, mas sim de "como" implementá-la de forma estratégica e segura.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Impacto Econômico é Trilionário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680930"/>
            <a:ext cx="3786188" cy="2000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7250" b="1" spc="-3" kern="0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US$ 4.4T</a:t>
            </a:r>
            <a:endParaRPr lang="en-US" sz="7250" dirty="0"/>
          </a:p>
        </p:txBody>
      </p:sp>
      <p:sp>
        <p:nvSpPr>
          <p:cNvPr id="5" name="Text 2"/>
          <p:cNvSpPr/>
          <p:nvPr/>
        </p:nvSpPr>
        <p:spPr>
          <a:xfrm>
            <a:off x="571500" y="3752617"/>
            <a:ext cx="3786188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E0006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Adicionados anualmente à economia global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571500" y="4472685"/>
            <a:ext cx="3786188" cy="29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4A4A4A">
                    <a:alpha val="70000"/>
                  </a:srgbClr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Fonte: McKinsey &amp; Company, The economic potential of generative AI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4972050" y="1530186"/>
            <a:ext cx="3600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Automação Inteligente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972050" y="1805220"/>
            <a:ext cx="3600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Aumento exponencial de produtividade em tarefas cognitivas e repetitivas.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4972050" y="2433870"/>
            <a:ext cx="3600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Eficiência Operacional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972050" y="2708904"/>
            <a:ext cx="3600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Redução drástica de custos operacionais e otimização de recursos.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4972050" y="3337554"/>
            <a:ext cx="3600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Novos Modelos de Negócio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972050" y="3612589"/>
            <a:ext cx="3600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Criação de produtos e serviços antes impossíveis ou inviáveis.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972050" y="4241239"/>
            <a:ext cx="360045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Transformação Acelerada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972050" y="4516273"/>
            <a:ext cx="36004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Indústrias inteiras sendo redefinidas em um ritmo sem precedentes.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571500" y="4068366"/>
            <a:ext cx="5304234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2C91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Empresas que não adotam IA ficarão para trás economicamente.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Tendências que Moldarão 2026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303009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357313" y="1303009"/>
            <a:ext cx="5715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IA Agêntica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357313" y="1578043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Sistemas autônomos capazes de raciocinar, planejar e executar tarefas complexas, indo além da simples geração de conteúdo.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263843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357313" y="2263843"/>
            <a:ext cx="5715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Orçamentos Crescentes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357313" y="2538878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Crescimento de 60% nos investimentos em IA entre 2025 e 2027, saltando de 4.7% para 7.6% do orçamento total de TI.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224678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357313" y="3224678"/>
            <a:ext cx="5715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Valorização do Humano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57313" y="3499712"/>
            <a:ext cx="5715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À medida que a IA se populariza, a criatividade, o julgamento crítico e o contexto humano tornam-se os verdadeiros diferenciais competitivos.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4328387"/>
            <a:ext cx="5715000" cy="25538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futuro não é IA vs. Humanos, é IA + Humanos.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Risco Silencioso da Inação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981721"/>
            <a:ext cx="3714750" cy="16458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Inação em IA não é neutralidade — é desvantagem competitiva acelerada.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3770449"/>
            <a:ext cx="3714750" cy="480027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006C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Cada mês sem IA é um mês de distância crescente dos líderes de mercado.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857750" y="1458832"/>
            <a:ext cx="285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257800" y="1458832"/>
            <a:ext cx="3314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Perda de Mercado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257800" y="1707412"/>
            <a:ext cx="33147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Concorrentes ágeis capturam market share com operações mais eficientes.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4857750" y="2153171"/>
            <a:ext cx="285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257800" y="2153171"/>
            <a:ext cx="3314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Produtividade Estagnada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257800" y="2401751"/>
            <a:ext cx="33147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Equipes presas em tarefas manuais enquanto o mercado acelera.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857750" y="2847510"/>
            <a:ext cx="285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257800" y="2847510"/>
            <a:ext cx="3314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Fuga de Talento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5257800" y="3096090"/>
            <a:ext cx="33147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Profissionais de alto nível buscam empresas que utilizam tecnologias de ponta.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7750" y="3541849"/>
            <a:ext cx="285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257800" y="3541849"/>
            <a:ext cx="3314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Custos Crescentes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257800" y="3790429"/>
            <a:ext cx="33147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Operações manuais tornam-se insustentáveis frente à automação inteligente.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857750" y="4236188"/>
            <a:ext cx="28575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257800" y="4236188"/>
            <a:ext cx="3314700" cy="20571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Falta de Inovação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257800" y="4484768"/>
            <a:ext cx="3314700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Impossibilidade de acompanhar a transformação digital e criar novos modelos de negócio.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81674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Riscos da Adoção Sem Estratégia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960109"/>
            <a:ext cx="8001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2C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IA sem direção não é vantagem - é prejuízo acelerado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535181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Falta de Conhecimento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571500" y="1794142"/>
            <a:ext cx="3714750" cy="54005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46% das empresas apontam a falta de conhecimento como a principal barreira, levando a implementações falhas.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4857750" y="1535181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"Workslop"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857750" y="1794142"/>
            <a:ext cx="3714750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Geração massiva de outputs de baixa qualidade devido à falta de normas e revisão humana adequada.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571500" y="2619942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"Shadow AI"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1500" y="2878903"/>
            <a:ext cx="3714750" cy="540051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não autorizado de ferramentas de IA por funcionários. 40% das empresas sofrerão incidentes até 2030.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4857750" y="2619942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Alucinações e Viés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857750" y="2878903"/>
            <a:ext cx="3714750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Sistemas gerando informações falsas ou enviesadas que podem prejudicar a tomada de decisão e a reputação.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71500" y="3704704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Privacidade de Dados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1500" y="3963665"/>
            <a:ext cx="3714750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Exposição de dados sensíveis corporativos ou de clientes em modelos públicos de IA generativa.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857750" y="3704704"/>
            <a:ext cx="3714750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Violação de Regulamentações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857750" y="3963665"/>
            <a:ext cx="3714750" cy="360034"/>
          </a:xfrm>
          <a:prstGeom prst="rect">
            <a:avLst/>
          </a:prstGeom>
          <a:noFill/>
          <a:ln/>
        </p:spPr>
        <p:txBody>
          <a:bodyPr wrap="square" lIns="17005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Risco de não conformidade com leis de proteção de dados (LGPD/GDPR) e novas regulações de IA.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571500" y="4680886"/>
            <a:ext cx="6429375" cy="707231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implementação de IA sem governança e estratégia claras amplifica os riscos operacionais, em vez de criar novas oportunidades de negócio.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7879556" y="5313108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Visão Experian - Onde Queremos Chegar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303009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450" dirty="0"/>
          </a:p>
        </p:txBody>
      </p:sp>
      <p:sp>
        <p:nvSpPr>
          <p:cNvPr id="5" name="Text 2"/>
          <p:cNvSpPr/>
          <p:nvPr/>
        </p:nvSpPr>
        <p:spPr>
          <a:xfrm>
            <a:off x="1357313" y="1360159"/>
            <a:ext cx="56435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Compreender a Estratégia de IA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357313" y="1657322"/>
            <a:ext cx="5643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Entender como a Experian está adotando IA em toda a organização e quais são as implicações para inovação, liderança e crescimento.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71500" y="2371697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450" dirty="0"/>
          </a:p>
        </p:txBody>
      </p:sp>
      <p:sp>
        <p:nvSpPr>
          <p:cNvPr id="8" name="Text 5"/>
          <p:cNvSpPr/>
          <p:nvPr/>
        </p:nvSpPr>
        <p:spPr>
          <a:xfrm>
            <a:off x="1357313" y="2428847"/>
            <a:ext cx="56435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Aplicar IA na Prática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357313" y="2726010"/>
            <a:ext cx="5643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Gerar impacto real no negócio através de soluções para problemas reais, aumentando a familiaridade com aplicações práticas.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71500" y="3440385"/>
            <a:ext cx="57150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245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450" dirty="0"/>
          </a:p>
        </p:txBody>
      </p:sp>
      <p:sp>
        <p:nvSpPr>
          <p:cNvPr id="11" name="Text 8"/>
          <p:cNvSpPr/>
          <p:nvPr/>
        </p:nvSpPr>
        <p:spPr>
          <a:xfrm>
            <a:off x="1357313" y="3497535"/>
            <a:ext cx="5643563" cy="2400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Reinventar a Liderança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357313" y="3794699"/>
            <a:ext cx="5643563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Capacitar líderes a navegar mudanças, fortalecer equipes e aplicar julgamento em um ambiente que evolui rapidamente para o "AI-first".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71500" y="4651949"/>
            <a:ext cx="5715000" cy="435769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Inteligência Artificial não é apenas uma tecnologia — é uma transformação fundamental de como lideramos e operamos.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Três Dimensões da Transformação Experian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445884"/>
            <a:ext cx="2381241" cy="43398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Estratégia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571500" y="2051317"/>
            <a:ext cx="2381241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Identificar onde a Inteligência Artificial cria o valor máximo para o negócio, alinhando casos de uso com os objetivos corporativos e garantindo um ROI claro.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3381366" y="1445884"/>
            <a:ext cx="2381241" cy="43398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Execução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381366" y="2051317"/>
            <a:ext cx="2381241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Implementar soluções com qualidade, segurança e velocidade. Foco em processos estruturados, automação inteligente e melhoria contínua.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6191231" y="1445884"/>
            <a:ext cx="2381241" cy="433983"/>
          </a:xfrm>
          <a:prstGeom prst="rect">
            <a:avLst/>
          </a:prstGeom>
          <a:noFill/>
          <a:ln/>
        </p:spPr>
        <p:txBody>
          <a:bodyPr wrap="square" lIns="0" tIns="136017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Liderança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6191231" y="2051317"/>
            <a:ext cx="2381241" cy="1071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Capacitar e guiar as equipes através da mudança. Evoluir de gerenciar tarefas para orquestrar capacidades conjuntas entre humanos e IA.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1357313" y="4204097"/>
            <a:ext cx="6429375" cy="5107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5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O sucesso da transformação requer excelência e alinhamento simultâneo nas três dimensões.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Cinco Práticas de Liderança com IA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960109"/>
            <a:ext cx="8001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2C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Liderança efetiva com IA repousa em cinco práticas fundamentais (HBR)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571500" y="1606618"/>
            <a:ext cx="1428750" cy="585788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A0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3300" dirty="0"/>
          </a:p>
        </p:txBody>
      </p:sp>
      <p:sp>
        <p:nvSpPr>
          <p:cNvPr id="6" name="Text 3"/>
          <p:cNvSpPr/>
          <p:nvPr/>
        </p:nvSpPr>
        <p:spPr>
          <a:xfrm>
            <a:off x="571500" y="2306706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Redesenhar o Trabalho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763906"/>
            <a:ext cx="1428750" cy="9600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Integrar a IA como capacidade compartilhada nos fluxos de trabalho, não apenas como ferramenta individual.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214563" y="1606618"/>
            <a:ext cx="1428750" cy="585788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A0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3300" dirty="0"/>
          </a:p>
        </p:txBody>
      </p:sp>
      <p:sp>
        <p:nvSpPr>
          <p:cNvPr id="9" name="Text 6"/>
          <p:cNvSpPr/>
          <p:nvPr/>
        </p:nvSpPr>
        <p:spPr>
          <a:xfrm>
            <a:off x="2214563" y="2306706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Expectativas Claras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2214563" y="2763906"/>
            <a:ext cx="1428750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Clarificar o propósito da IA e como os papéis evoluirão para evitar ansiedade sobre a carga de trabalho.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3857625" y="1606618"/>
            <a:ext cx="1428750" cy="585788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A0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3300" dirty="0"/>
          </a:p>
        </p:txBody>
      </p:sp>
      <p:sp>
        <p:nvSpPr>
          <p:cNvPr id="12" name="Text 9"/>
          <p:cNvSpPr/>
          <p:nvPr/>
        </p:nvSpPr>
        <p:spPr>
          <a:xfrm>
            <a:off x="3857625" y="2306706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Medir Impacto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3857625" y="2763906"/>
            <a:ext cx="1428750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Recompensar resultados de negócio e qualidade, não o volume ou a quantidade de uso de ferramentas de IA.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500688" y="1606618"/>
            <a:ext cx="1428750" cy="585788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A0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04</a:t>
            </a:r>
            <a:endParaRPr lang="en-US" sz="3300" dirty="0"/>
          </a:p>
        </p:txBody>
      </p:sp>
      <p:sp>
        <p:nvSpPr>
          <p:cNvPr id="15" name="Text 12"/>
          <p:cNvSpPr/>
          <p:nvPr/>
        </p:nvSpPr>
        <p:spPr>
          <a:xfrm>
            <a:off x="5500688" y="2306706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Construir Habilidades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5500688" y="2763906"/>
            <a:ext cx="1428750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Fortalecer o problem framing, planejamento e pensamento crítico para resolver os problemas certos.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7143750" y="1606618"/>
            <a:ext cx="1428750" cy="585788"/>
          </a:xfrm>
          <a:prstGeom prst="rect">
            <a:avLst/>
          </a:prstGeom>
          <a:noFill/>
          <a:ln/>
        </p:spPr>
        <p:txBody>
          <a:bodyPr wrap="none" lIns="0" tIns="0" rIns="0" bIns="136017" rtlCol="0" anchor="t">
            <a:sp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3300" b="1" dirty="0">
                <a:solidFill>
                  <a:srgbClr val="0000A0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05</a:t>
            </a:r>
            <a:endParaRPr lang="en-US" sz="3300" dirty="0"/>
          </a:p>
        </p:txBody>
      </p:sp>
      <p:sp>
        <p:nvSpPr>
          <p:cNvPr id="18" name="Text 15"/>
          <p:cNvSpPr/>
          <p:nvPr/>
        </p:nvSpPr>
        <p:spPr>
          <a:xfrm>
            <a:off x="7143750" y="2306706"/>
            <a:ext cx="142875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Proteger a Atenção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143750" y="2763906"/>
            <a:ext cx="1428750" cy="80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8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Tratar a atenção humana como recurso crítico, criando pausas intencionais e sequenciando o trabalho.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571500" y="4479131"/>
            <a:ext cx="6429375" cy="235744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Não é sobre adotar IA — é sobre redesenhar como trabalhamos.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9121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Prática 1: Redesenhar o Trabalho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445884"/>
            <a:ext cx="3714750" cy="195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IA não deve ser sobreposta ao trabalho existente — ela deve integrar-se organicamente aos fluxos.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3824669"/>
            <a:ext cx="3714750" cy="1366549"/>
          </a:xfrm>
          <a:prstGeom prst="rect">
            <a:avLst/>
          </a:prstGeom>
          <a:solidFill>
            <a:srgbClr val="0000A0"/>
          </a:solidFill>
          <a:ln/>
        </p:spPr>
      </p:sp>
      <p:sp>
        <p:nvSpPr>
          <p:cNvPr id="6" name="Text 3"/>
          <p:cNvSpPr/>
          <p:nvPr/>
        </p:nvSpPr>
        <p:spPr>
          <a:xfrm>
            <a:off x="785813" y="4038981"/>
            <a:ext cx="3286125" cy="1464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800" b="1" spc="2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RESULTADO ESPERADO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785813" y="4256866"/>
            <a:ext cx="328612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 produtividade aumenta enquanto o "brain fry" (sobrecarga cognitiva) diminui.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5086350" y="1545617"/>
            <a:ext cx="3486150" cy="8800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Definir limites claros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sobre quantas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ferramentas ou agentes de IA cada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colaborador deve gerenciar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simultaneamente.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086350" y="2654238"/>
            <a:ext cx="34861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Integrar a IA como capacidade compartilhada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da equipe, e não apenas como uma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ferramenta de uso individual isolado.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086350" y="3542854"/>
            <a:ext cx="34861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Mapear os fluxos de trabalho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detalhadamente antes de implementar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qualquer solução de IA generativa.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086350" y="4431469"/>
            <a:ext cx="3486150" cy="660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100" b="1" dirty="0">
                <a:solidFill>
                  <a:srgbClr val="4A4A4A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Reduzir a carga cognitiva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 através de um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design inteligente de processos que priorize </a:t>
            </a: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clareza e a simplicidade.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879556" y="4687584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Prática 5: Proteger a Atenção Humana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1564537"/>
            <a:ext cx="3377040" cy="2057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Sem proteção </a:t>
            </a: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intencional, a IA </a:t>
            </a:r>
            <a:r>
              <a:rPr lang="en-US" sz="2600" spc="-1" kern="0" dirty="0">
                <a:solidFill>
                  <a:srgbClr val="E0006C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intensifica</a:t>
            </a: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 o </a:t>
            </a: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trabalho em vez de </a:t>
            </a:r>
            <a:r>
              <a:rPr lang="en-US" sz="260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reduzi-lo.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571500" y="3764728"/>
            <a:ext cx="3377040" cy="960053"/>
          </a:xfrm>
          <a:prstGeom prst="rect">
            <a:avLst/>
          </a:prstGeom>
          <a:noFill/>
          <a:ln/>
        </p:spPr>
        <p:txBody>
          <a:bodyPr wrap="square" lIns="204089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atenção humana é um recurso limitado e crítico. Conforme a velocidade aumenta, a carga cognitiva torna-se insustentável.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4520040" y="1662345"/>
            <a:ext cx="405246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Pausas Intencionais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20040" y="1923092"/>
            <a:ext cx="4052460" cy="40005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Momentos estruturados para desacelerar, testar premissas e refletir antes de decisões.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20040" y="2466017"/>
            <a:ext cx="405246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Sequenciar o Trabalho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20040" y="2726764"/>
            <a:ext cx="4052460" cy="40005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Agrupar notificações e proteger janelas de foco contra interrupções.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4520040" y="3269689"/>
            <a:ext cx="405246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Reconectar com Humanos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20040" y="3530436"/>
            <a:ext cx="4052460" cy="400050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Criar espaço para diálogo e colaboração entre pessoas.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520040" y="4144798"/>
            <a:ext cx="4052460" cy="482203"/>
          </a:xfrm>
          <a:prstGeom prst="rect">
            <a:avLst/>
          </a:prstGeom>
          <a:noFill/>
          <a:ln/>
        </p:spPr>
        <p:txBody>
          <a:bodyPr wrap="square" lIns="0" tIns="8509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Resultado: Performance sustentável e redução do burnout.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Evitar Armadilhas: Workslop e Shadow AI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960109"/>
            <a:ext cx="8001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2C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Implementação sem governança cria mais problemas que soluções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428625" y="1463743"/>
            <a:ext cx="4029075" cy="312539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As Armadilhas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28625" y="1862007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"Workslop"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28625" y="2092393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Outputs de baixa qualidade gerados por falta de normas e revisão humana.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428625" y="2538152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Shadow AI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28625" y="2768538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não autorizado de ferramentas que cria riscos de segurança e privacidade.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428625" y="3214297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Sobrecarga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428625" y="3444683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IA intensifica em vez de reduzir o trabalho quando não há limites claros.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428625" y="3890442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Desconexão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28625" y="4120828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Uso de IA isolado, sem alinhamento com os objetivos reais do negócio.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4686300" y="1463743"/>
            <a:ext cx="4029075" cy="312539"/>
          </a:xfrm>
          <a:prstGeom prst="rect">
            <a:avLst/>
          </a:prstGeom>
          <a:noFill/>
          <a:ln/>
        </p:spPr>
        <p:txBody>
          <a:bodyPr wrap="square" lIns="0" tIns="0" rIns="0" bIns="51054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 Prevenção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686300" y="1862007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Estabelecer Normas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686300" y="2092393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Definir claramente o que é um "bom" uso da IA e quando ela deve ou não ser utilizada.</a:t>
            </a:r>
            <a:endParaRPr lang="en-US" sz="950" dirty="0"/>
          </a:p>
        </p:txBody>
      </p:sp>
      <p:sp>
        <p:nvSpPr>
          <p:cNvPr id="17" name="Text 14"/>
          <p:cNvSpPr/>
          <p:nvPr/>
        </p:nvSpPr>
        <p:spPr>
          <a:xfrm>
            <a:off x="4686300" y="2538152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Criar Papéis de Suporte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686300" y="2768538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Nomear "arquitetos de IA" responsáveis por alinhar ferramentas aos fluxos de trabalho.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686300" y="3214297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Monitorar Carga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4686300" y="3444683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Acompanhar a carga cognitiva das equipes e ajustar a velocidade de implementação.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686300" y="3890442"/>
            <a:ext cx="40290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Alinhar com o Negócio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686300" y="4120828"/>
            <a:ext cx="4029075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9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Garantir que cada iniciativa de IA esteja conectada a KPIs e resultados mensuráveis.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428625" y="4759523"/>
            <a:ext cx="8286750" cy="383977"/>
          </a:xfrm>
          <a:prstGeom prst="rect">
            <a:avLst/>
          </a:prstGeom>
          <a:noFill/>
          <a:ln/>
        </p:spPr>
        <p:txBody>
          <a:bodyPr wrap="square" lIns="0" tIns="102108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Governança não é restrição — é libertação para inovar com segurança.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165306" y="47541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600075"/>
            <a:ext cx="8001000" cy="2743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Próximos Passos: Começar Hoje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571500" y="960109"/>
            <a:ext cx="8001000" cy="217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6B2C91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transformação de IA começa com decisão e ação imediata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571500" y="1892368"/>
            <a:ext cx="371475" cy="371475"/>
          </a:xfrm>
          <a:prstGeom prst="ellipse">
            <a:avLst/>
          </a:prstGeom>
          <a:solidFill>
            <a:srgbClr val="F4F6F9"/>
          </a:solidFill>
          <a:ln w="27432">
            <a:solidFill>
              <a:srgbClr val="0000A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71500" y="189236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A0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71500" y="2435293"/>
            <a:ext cx="66079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SEMANA 1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1500" y="2685324"/>
            <a:ext cx="1428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Definir visão e estratégia de IA alinhada ao negócio.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214563" y="1892368"/>
            <a:ext cx="371475" cy="371475"/>
          </a:xfrm>
          <a:prstGeom prst="ellipse">
            <a:avLst/>
          </a:prstGeom>
          <a:solidFill>
            <a:srgbClr val="F4F6F9"/>
          </a:solidFill>
          <a:ln w="27432">
            <a:solidFill>
              <a:srgbClr val="E0006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214563" y="189236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2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2214563" y="2435293"/>
            <a:ext cx="826889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SEMANA 2-3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2214563" y="2685324"/>
            <a:ext cx="1428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Identificar casos de uso prioritários com ROI claro.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857625" y="1892368"/>
            <a:ext cx="371475" cy="371475"/>
          </a:xfrm>
          <a:prstGeom prst="ellipse">
            <a:avLst/>
          </a:prstGeom>
          <a:solidFill>
            <a:srgbClr val="F4F6F9"/>
          </a:solidFill>
          <a:ln w="27432">
            <a:solidFill>
              <a:srgbClr val="6B2C9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857625" y="189236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2C91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3857625" y="2435293"/>
            <a:ext cx="684014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SEMANA 4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3857625" y="2685324"/>
            <a:ext cx="1428750" cy="5572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Avaliar readiness (dados, talento, tecnologia).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500688" y="1892368"/>
            <a:ext cx="371475" cy="371475"/>
          </a:xfrm>
          <a:prstGeom prst="ellipse">
            <a:avLst/>
          </a:prstGeom>
          <a:solidFill>
            <a:srgbClr val="F4F6F9"/>
          </a:solidFill>
          <a:ln w="27432">
            <a:solidFill>
              <a:srgbClr val="0066CC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500688" y="189236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66C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5500688" y="2435293"/>
            <a:ext cx="408980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MÊS 2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5500688" y="2685324"/>
            <a:ext cx="1428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Começar pilotos com equipes voluntárias e seguras.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7143750" y="1892368"/>
            <a:ext cx="371475" cy="371475"/>
          </a:xfrm>
          <a:prstGeom prst="ellipse">
            <a:avLst/>
          </a:prstGeom>
          <a:solidFill>
            <a:srgbClr val="0000A0"/>
          </a:solidFill>
          <a:ln w="27432">
            <a:solidFill>
              <a:srgbClr val="0000A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143750" y="1892368"/>
            <a:ext cx="371475" cy="371475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5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143750" y="2435293"/>
            <a:ext cx="498277" cy="164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900" b="1" spc="1" kern="0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MÊS 3+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43750" y="2685324"/>
            <a:ext cx="1428750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Escalar com aprendizados e governança estabelecida.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2261890" y="4423767"/>
            <a:ext cx="4620220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Não é sobre perfeição — é sobre começar.</a:t>
            </a:r>
            <a:endParaRPr lang="en-US" sz="1700" dirty="0"/>
          </a:p>
        </p:txBody>
      </p:sp>
      <p:sp>
        <p:nvSpPr>
          <p:cNvPr id="26" name="Text 23"/>
          <p:cNvSpPr/>
          <p:nvPr/>
        </p:nvSpPr>
        <p:spPr>
          <a:xfrm>
            <a:off x="7879556" y="4639866"/>
            <a:ext cx="692944" cy="21788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57313" y="383446"/>
            <a:ext cx="6429375" cy="4376607"/>
          </a:xfrm>
          <a:prstGeom prst="rect">
            <a:avLst/>
          </a:prstGeom>
          <a:solidFill>
            <a:srgbClr val="FFFFFF">
              <a:alpha val="90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1357313" y="383446"/>
            <a:ext cx="6429375" cy="57150"/>
          </a:xfrm>
          <a:prstGeom prst="rect">
            <a:avLst/>
          </a:prstGeom>
          <a:solidFill>
            <a:srgbClr val="E0006C"/>
          </a:solidFill>
          <a:ln/>
        </p:spPr>
      </p:sp>
      <p:sp>
        <p:nvSpPr>
          <p:cNvPr id="5" name="Text 2"/>
          <p:cNvSpPr/>
          <p:nvPr/>
        </p:nvSpPr>
        <p:spPr>
          <a:xfrm>
            <a:off x="1928813" y="840646"/>
            <a:ext cx="5286375" cy="9601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ct val="96000"/>
              </a:lnSpc>
              <a:buNone/>
            </a:pPr>
            <a:r>
              <a:rPr lang="en-US" sz="3050" spc="-1" kern="0" dirty="0">
                <a:solidFill>
                  <a:srgbClr val="0000A0"/>
                </a:solidFill>
                <a:latin typeface="Space Grotesk Medium" pitchFamily="34" charset="0"/>
                <a:ea typeface="Space Grotesk Medium" pitchFamily="34" charset="-122"/>
                <a:cs typeface="Space Grotesk Medium" pitchFamily="34" charset="-120"/>
              </a:rPr>
              <a:t>IA Generativa é Oportunidade de Liderança</a:t>
            </a:r>
            <a:endParaRPr lang="en-US" sz="3050" dirty="0"/>
          </a:p>
        </p:txBody>
      </p:sp>
      <p:sp>
        <p:nvSpPr>
          <p:cNvPr id="6" name="Text 3"/>
          <p:cNvSpPr/>
          <p:nvPr/>
        </p:nvSpPr>
        <p:spPr>
          <a:xfrm>
            <a:off x="1928813" y="2086505"/>
            <a:ext cx="5286375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IA não é uma tecnologia que podemos ignorar ou delegar apenas à TI.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1928813" y="2633002"/>
            <a:ext cx="5286375" cy="4036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sucesso requer estratégia clara, execução disciplinada e liderança humanizada.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1928813" y="3179499"/>
            <a:ext cx="5286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 tempo para agir, aprender e se adaptar é agora.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1928813" y="3524185"/>
            <a:ext cx="5286375" cy="201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4A4A4A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 Experian está liderando essa transformação no mercado.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1928813" y="4011746"/>
            <a:ext cx="5286375" cy="2911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0006C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Vamos construir o futuro juntos.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66980" y="4386263"/>
            <a:ext cx="1019770" cy="3286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900" spc="-1" kern="0" dirty="0">
                <a:solidFill>
                  <a:srgbClr val="0000A0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experian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2026-05-01T21:27:42Z</dcterms:created>
  <dcterms:modified xsi:type="dcterms:W3CDTF">2026-05-01T21:27:42Z</dcterms:modified>
</cp:coreProperties>
</file>